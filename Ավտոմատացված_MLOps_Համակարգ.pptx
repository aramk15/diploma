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EB8CF"/>
                </a:solidFill>
                <a:latin typeface="Aptos"/>
              </a:rPr>
              <a:t>01</a:t>
            </a:r>
            <a:endParaRPr sz="11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B8CF"/>
                </a:solidFill>
                <a:latin typeface="Aptos"/>
              </a:rPr>
              <a:t>ԴԻՊԼՈՄԱՅԻՆ ԱՇԽԱՏԱՆՔ</a:t>
            </a:r>
            <a:endParaRPr sz="9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73152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5F7FC"/>
                </a:solidFill>
                <a:latin typeface="Aptos"/>
              </a:rPr>
              <a:t>Ավտոմատացված
MLOps համակարգի մշակում</a:t>
            </a:r>
            <a:endParaRPr sz="34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2971800"/>
            <a:ext cx="6583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AEB8CF"/>
                </a:solidFill>
                <a:latin typeface="Aptos"/>
              </a:rPr>
              <a:t>ML մոդելների ուսուցման, տեղակայման և մոնիթորինգի ապահովում Azure Machine Learning-ի միջոցով</a:t>
            </a:r>
            <a:endParaRPr sz="150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" y="4160520"/>
            <a:ext cx="2148840" cy="329184"/>
          </a:xfrm>
          <a:prstGeom prst="roundRect">
            <a:avLst>
              <a:gd name="adj" fmla="val 12000"/>
            </a:avLst>
          </a:prstGeom>
          <a:solidFill>
            <a:srgbClr val="8978FF"/>
          </a:solidFill>
          <a:ln>
            <a:solidFill>
              <a:srgbClr val="8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260596"/>
            <a:ext cx="200253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5F7FC"/>
                </a:solidFill>
                <a:latin typeface="Aptos"/>
              </a:rPr>
              <a:t>AZURE MACHINE LEARNING</a:t>
            </a:r>
            <a:endParaRPr sz="9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709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7C4FF"/>
                </a:solidFill>
                <a:latin typeface="Aptos"/>
              </a:rPr>
              <a:t>DATA</a:t>
            </a:r>
            <a:endParaRPr sz="900" b="1" i="0">
              <a:solidFill>
                <a:srgbClr val="57C4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509760" y="141732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709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8978FF"/>
                </a:solidFill>
                <a:latin typeface="Aptos"/>
              </a:rPr>
              <a:t>TRAIN</a:t>
            </a:r>
            <a:endParaRPr sz="900" b="1" i="0">
              <a:solidFill>
                <a:srgbClr val="8978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09560" y="292608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21868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6FE0AE"/>
                </a:solidFill>
                <a:latin typeface="Aptos"/>
              </a:rPr>
              <a:t>DEPLOY</a:t>
            </a:r>
            <a:endParaRPr sz="900" b="1" i="0">
              <a:solidFill>
                <a:srgbClr val="6FE0AE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09760" y="292608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321868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7C4FF"/>
                </a:solidFill>
                <a:latin typeface="Aptos"/>
              </a:rPr>
              <a:t>MONITOR</a:t>
            </a:r>
            <a:endParaRPr sz="900" b="1" i="0">
              <a:solidFill>
                <a:srgbClr val="57C4FF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9235440" y="2286000"/>
            <a:ext cx="0" cy="640080"/>
          </a:xfrm>
          <a:prstGeom prst="line">
            <a:avLst/>
          </a:prstGeom>
          <a:ln w="2540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5440" y="2286000"/>
            <a:ext cx="1600200" cy="0"/>
          </a:xfrm>
          <a:prstGeom prst="line">
            <a:avLst/>
          </a:prstGeom>
          <a:ln w="2540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35440" y="3794760"/>
            <a:ext cx="1600200" cy="0"/>
          </a:xfrm>
          <a:prstGeom prst="line">
            <a:avLst/>
          </a:prstGeom>
          <a:ln w="2540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651052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AEB8CF"/>
                </a:solidFill>
                <a:latin typeface="Aptos"/>
              </a:rPr>
              <a:t>Ավտոմատացված MLOps համակարգ</a:t>
            </a:r>
            <a:endParaRPr sz="850" b="0" i="0">
              <a:solidFill>
                <a:srgbClr val="AE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EB8CF"/>
                </a:solidFill>
                <a:latin typeface="Aptos"/>
              </a:rPr>
              <a:t>02</a:t>
            </a:r>
            <a:endParaRPr sz="11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B8CF"/>
                </a:solidFill>
                <a:latin typeface="Aptos"/>
              </a:rPr>
              <a:t>ՀԱՐԹԱԿ</a:t>
            </a:r>
            <a:endParaRPr sz="9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C"/>
                </a:solidFill>
                <a:latin typeface="Aptos"/>
              </a:rPr>
              <a:t>Ինչու՞ ընտրել Azure ML-ը</a:t>
            </a:r>
            <a:endParaRPr sz="30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54864" cy="2331720"/>
          </a:xfrm>
          <a:prstGeom prst="rect">
            <a:avLst/>
          </a:prstGeom>
          <a:solidFill>
            <a:srgbClr val="8978FF"/>
          </a:solidFill>
          <a:ln>
            <a:solidFill>
              <a:srgbClr val="8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4144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7FC"/>
                </a:solidFill>
                <a:latin typeface="Aptos"/>
              </a:rPr>
              <a:t>Կորպորատիվ Անվտանգություն</a:t>
            </a:r>
            <a:endParaRPr sz="16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953512"/>
            <a:ext cx="2971800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AEB8CF"/>
                </a:solidFill>
                <a:latin typeface="Aptos"/>
              </a:rPr>
              <a:t>Ինտեգրվում է Azure Virtual Networks-ի և Key Vault-ների հետ՝ ապահովելով տվյալների բացարձակ պաշտպանություն.</a:t>
            </a:r>
            <a:endParaRPr sz="115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240280"/>
            <a:ext cx="54864" cy="2331720"/>
          </a:xfrm>
          <a:prstGeom prst="rect">
            <a:avLst/>
          </a:prstGeom>
          <a:solidFill>
            <a:srgbClr val="57C4FF"/>
          </a:solidFill>
          <a:ln>
            <a:solidFill>
              <a:srgbClr val="5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4144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7FC"/>
                </a:solidFill>
                <a:latin typeface="Aptos"/>
              </a:rPr>
              <a:t>Համագործակցություն և Կառավարում</a:t>
            </a:r>
            <a:endParaRPr sz="16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2953512"/>
            <a:ext cx="2971800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AEB8CF"/>
                </a:solidFill>
                <a:latin typeface="Aptos"/>
              </a:rPr>
              <a:t>Թույլ է տալիս թիմերին կիսել ռեսուրսները՝ պահպանելով աուդիտի խիստ կանոնները և վերահսկողությունը.</a:t>
            </a:r>
            <a:endParaRPr sz="115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224028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40280"/>
            <a:ext cx="54864" cy="2331720"/>
          </a:xfrm>
          <a:prstGeom prst="rect">
            <a:avLst/>
          </a:prstGeom>
          <a:solidFill>
            <a:srgbClr val="6FE0AE"/>
          </a:solidFill>
          <a:ln>
            <a:solidFill>
              <a:srgbClr val="6FE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44144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7FC"/>
                </a:solidFill>
                <a:latin typeface="Aptos"/>
              </a:rPr>
              <a:t>Բաց և Փոխգործելի</a:t>
            </a:r>
            <a:endParaRPr sz="16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2953512"/>
            <a:ext cx="2971800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AEB8CF"/>
                </a:solidFill>
                <a:latin typeface="Aptos"/>
              </a:rPr>
              <a:t>Ամբողջությամբ աջակցում է բաց կոդով հայտնի գրադարաններին, ինչպիսիք են՝ PyTorch, TensorFlow և scikit-learn.</a:t>
            </a:r>
            <a:endParaRPr sz="115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" y="4983480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8978FF"/>
          </a:solidFill>
          <a:ln>
            <a:solidFill>
              <a:srgbClr val="8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063236"/>
            <a:ext cx="90525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5F7FC"/>
                </a:solidFill>
                <a:latin typeface="Aptos"/>
              </a:rPr>
              <a:t>PyTorch</a:t>
            </a:r>
            <a:endParaRPr sz="9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11680" y="4983480"/>
            <a:ext cx="1234440" cy="329184"/>
          </a:xfrm>
          <a:prstGeom prst="roundRect">
            <a:avLst>
              <a:gd name="adj" fmla="val 12000"/>
            </a:avLst>
          </a:prstGeom>
          <a:solidFill>
            <a:srgbClr val="57C4FF"/>
          </a:solidFill>
          <a:ln>
            <a:solidFill>
              <a:srgbClr val="5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5063236"/>
            <a:ext cx="108813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5F7FC"/>
                </a:solidFill>
                <a:latin typeface="Aptos"/>
              </a:rPr>
              <a:t>TensorFlow</a:t>
            </a:r>
            <a:endParaRPr sz="9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83280" y="4983480"/>
            <a:ext cx="1325880" cy="329184"/>
          </a:xfrm>
          <a:prstGeom prst="roundRect">
            <a:avLst>
              <a:gd name="adj" fmla="val 12000"/>
            </a:avLst>
          </a:prstGeom>
          <a:solidFill>
            <a:srgbClr val="6FE0AE"/>
          </a:solidFill>
          <a:ln>
            <a:solidFill>
              <a:srgbClr val="6FE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5052441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5F7FC"/>
                </a:solidFill>
                <a:latin typeface="Aptos"/>
              </a:rPr>
              <a:t>scikit-learn</a:t>
            </a:r>
            <a:endParaRPr sz="9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AEB8CF"/>
                </a:solidFill>
                <a:latin typeface="Aptos"/>
              </a:rPr>
              <a:t>Ավտոմատացված MLOps համակարգ</a:t>
            </a:r>
            <a:endParaRPr sz="850" b="0" i="0">
              <a:solidFill>
                <a:srgbClr val="AE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EB8CF"/>
                </a:solidFill>
                <a:latin typeface="Aptos"/>
              </a:rPr>
              <a:t>03</a:t>
            </a:r>
            <a:endParaRPr sz="11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B8CF"/>
                </a:solidFill>
                <a:latin typeface="Aptos"/>
              </a:rPr>
              <a:t>ՈՒՍՈՒՑՈՒՄ</a:t>
            </a:r>
            <a:endParaRPr sz="9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C"/>
                </a:solidFill>
                <a:latin typeface="Aptos"/>
              </a:rPr>
              <a:t>Մոդելի ավտոմատացված ուսուցում</a:t>
            </a:r>
            <a:endParaRPr sz="30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074920" cy="196596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54864" cy="1965960"/>
          </a:xfrm>
          <a:prstGeom prst="rect">
            <a:avLst/>
          </a:prstGeom>
          <a:solidFill>
            <a:srgbClr val="8978FF"/>
          </a:solidFill>
          <a:ln>
            <a:solidFill>
              <a:srgbClr val="8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5000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5F7FC"/>
                </a:solidFill>
                <a:latin typeface="Aptos"/>
              </a:rPr>
              <a:t>Ավտոմատացված ML (AutoML)</a:t>
            </a:r>
            <a:endParaRPr sz="15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862072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AEB8CF"/>
                </a:solidFill>
                <a:latin typeface="Aptos"/>
              </a:rPr>
              <a:t>Զգալիորեն արագացնում է ալգորիթմների թեստավորման և տվյալների հատկանիշների ընտրության (featurization) կրկնվող գործընթացը:</a:t>
            </a:r>
            <a:endParaRPr sz="112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074920" cy="196596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4864" cy="1965960"/>
          </a:xfrm>
          <a:prstGeom prst="rect">
            <a:avLst/>
          </a:prstGeom>
          <a:solidFill>
            <a:srgbClr val="57C4FF"/>
          </a:solidFill>
          <a:ln>
            <a:solidFill>
              <a:srgbClr val="5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5000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5F7FC"/>
                </a:solidFill>
                <a:latin typeface="Aptos"/>
              </a:rPr>
              <a:t>Հիպերպարամետրերի Օպտիմիզացիա</a:t>
            </a:r>
            <a:endParaRPr sz="15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2862072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AEB8CF"/>
                </a:solidFill>
                <a:latin typeface="Aptos"/>
              </a:rPr>
              <a:t>Ավտոմատացնում է պարամետրերի որոնումը բարդ մոդելների համար՝ ապահովելով ամենաարդյունավետ և ճշգրիտ կոնֆիգուրացիան:</a:t>
            </a:r>
            <a:endParaRPr sz="112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074920" cy="196596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54864" cy="1965960"/>
          </a:xfrm>
          <a:prstGeom prst="rect">
            <a:avLst/>
          </a:prstGeom>
          <a:solidFill>
            <a:srgbClr val="6FE0AE"/>
          </a:solidFill>
          <a:ln>
            <a:solidFill>
              <a:srgbClr val="6FE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8172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5F7FC"/>
                </a:solidFill>
                <a:latin typeface="Aptos"/>
              </a:rPr>
              <a:t>Բաշխված Ուսուցում</a:t>
            </a:r>
            <a:endParaRPr sz="15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5193792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AEB8CF"/>
                </a:solidFill>
                <a:latin typeface="Aptos"/>
              </a:rPr>
              <a:t>Մասշտաբավորում է խորը ուսուցման (deep learning) աշխատանքները՝ օգտագործելով Azure ML GPU հզոր կլաստերները:</a:t>
            </a:r>
            <a:endParaRPr sz="112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651052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AEB8CF"/>
                </a:solidFill>
                <a:latin typeface="Aptos"/>
              </a:rPr>
              <a:t>Ավտոմատացված MLOps համակարգ</a:t>
            </a:r>
            <a:endParaRPr sz="850" b="0" i="0">
              <a:solidFill>
                <a:srgbClr val="AE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EB8CF"/>
                </a:solidFill>
                <a:latin typeface="Aptos"/>
              </a:rPr>
              <a:t>04</a:t>
            </a:r>
            <a:endParaRPr sz="11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B8CF"/>
                </a:solidFill>
                <a:latin typeface="Aptos"/>
              </a:rPr>
              <a:t>ՏԵՂԱԿԱՅՈՒՄ</a:t>
            </a:r>
            <a:endParaRPr sz="9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C"/>
                </a:solidFill>
                <a:latin typeface="Aptos"/>
              </a:rPr>
              <a:t>Ճկուն տեղակայում</a:t>
            </a:r>
            <a:endParaRPr sz="30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746504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EB8CF"/>
                </a:solidFill>
                <a:latin typeface="Aptos"/>
              </a:rPr>
              <a:t>Մոդելների արագ և վերահսկելի հասանելիություն՝ առանց Kubernetes-ի բարդ կոնֆիգուրացիաների</a:t>
            </a:r>
            <a:endParaRPr sz="130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744200" cy="297180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95728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F7FC"/>
                </a:solidFill>
                <a:latin typeface="Aptos"/>
              </a:rPr>
              <a:t>Managed Endpoints</a:t>
            </a:r>
            <a:endParaRPr sz="20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EB8CF"/>
                </a:solidFill>
                <a:latin typeface="Aptos"/>
              </a:rPr>
              <a:t>Տեղակայեք մոդելները հեշտությամբ՝ օգտագործելով Azure Managed Endpoints-ը:</a:t>
            </a:r>
            <a:endParaRPr sz="130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" y="3822191"/>
            <a:ext cx="1874519" cy="713232"/>
          </a:xfrm>
          <a:prstGeom prst="roundRect">
            <a:avLst>
              <a:gd name="adj" fmla="val 12000"/>
            </a:avLst>
          </a:prstGeom>
          <a:solidFill>
            <a:srgbClr val="1D243D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48252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8978FF"/>
                </a:solidFill>
                <a:latin typeface="Aptos"/>
              </a:rPr>
              <a:t>MODEL</a:t>
            </a:r>
            <a:endParaRPr sz="950" b="1" i="0">
              <a:solidFill>
                <a:srgbClr val="8978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926079" y="4178808"/>
            <a:ext cx="548641" cy="0"/>
          </a:xfrm>
          <a:prstGeom prst="line">
            <a:avLst/>
          </a:prstGeom>
          <a:ln w="2540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3822191"/>
            <a:ext cx="1874519" cy="713232"/>
          </a:xfrm>
          <a:prstGeom prst="roundRect">
            <a:avLst>
              <a:gd name="adj" fmla="val 12000"/>
            </a:avLst>
          </a:prstGeom>
          <a:solidFill>
            <a:srgbClr val="1D243D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005072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7C4FF"/>
                </a:solidFill>
                <a:latin typeface="Aptos"/>
              </a:rPr>
              <a:t>MANAGED
ENDPOINT</a:t>
            </a:r>
            <a:endParaRPr sz="950" b="1" i="0">
              <a:solidFill>
                <a:srgbClr val="57C4FF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440679" y="4178808"/>
            <a:ext cx="548641" cy="0"/>
          </a:xfrm>
          <a:prstGeom prst="line">
            <a:avLst/>
          </a:prstGeom>
          <a:ln w="2540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80760" y="3822191"/>
            <a:ext cx="1874519" cy="713232"/>
          </a:xfrm>
          <a:prstGeom prst="roundRect">
            <a:avLst>
              <a:gd name="adj" fmla="val 12000"/>
            </a:avLst>
          </a:prstGeom>
          <a:solidFill>
            <a:srgbClr val="1D243D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059047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6FE0AE"/>
                </a:solidFill>
                <a:latin typeface="Aptos"/>
              </a:rPr>
              <a:t>REAL-TIME</a:t>
            </a:r>
            <a:endParaRPr sz="950" b="1" i="0">
              <a:solidFill>
                <a:srgbClr val="6FE0AE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4178808"/>
            <a:ext cx="548641" cy="0"/>
          </a:xfrm>
          <a:prstGeom prst="line">
            <a:avLst/>
          </a:prstGeom>
          <a:ln w="2540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95360" y="3822191"/>
            <a:ext cx="1874519" cy="713232"/>
          </a:xfrm>
          <a:prstGeom prst="roundRect">
            <a:avLst>
              <a:gd name="adj" fmla="val 12000"/>
            </a:avLst>
          </a:prstGeom>
          <a:solidFill>
            <a:srgbClr val="1D243D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4059047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8978FF"/>
                </a:solidFill>
                <a:latin typeface="Aptos"/>
              </a:rPr>
              <a:t>BATCH</a:t>
            </a:r>
            <a:endParaRPr sz="950" b="1" i="0">
              <a:solidFill>
                <a:srgbClr val="8978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15000" y="2377440"/>
            <a:ext cx="50749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AEB8CF"/>
                </a:solidFill>
                <a:latin typeface="Aptos"/>
              </a:rPr>
              <a:t>Մենք շրջանցում ենք Kubernetes-ի բարդ կոնֆիգուրացիաները՝ ապահովելով ինչպես իրական ժամանակում (Real-time) կանխատեսումներ HTTPS-ի միջոցով (A/B թեստավորման համար), այնպես էլ խմբաքանակային (Batch) մշակում մեծ ծավալի տվյալների համար.</a:t>
            </a:r>
            <a:endParaRPr sz="115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651052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AEB8CF"/>
                </a:solidFill>
                <a:latin typeface="Aptos"/>
              </a:rPr>
              <a:t>Ավտոմատացված MLOps համակարգ</a:t>
            </a:r>
            <a:endParaRPr sz="850" b="0" i="0">
              <a:solidFill>
                <a:srgbClr val="AE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EB8CF"/>
                </a:solidFill>
                <a:latin typeface="Aptos"/>
              </a:rPr>
              <a:t>05</a:t>
            </a:r>
            <a:endParaRPr sz="11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B8CF"/>
                </a:solidFill>
                <a:latin typeface="Aptos"/>
              </a:rPr>
              <a:t>MLOPS</a:t>
            </a:r>
            <a:endParaRPr sz="9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C"/>
                </a:solidFill>
                <a:latin typeface="Aptos"/>
              </a:rPr>
              <a:t>Վերարտադրելիություն, ավտոմատացում և CI/CD</a:t>
            </a:r>
            <a:endParaRPr sz="30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383280" cy="274320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54864" cy="2743200"/>
          </a:xfrm>
          <a:prstGeom prst="rect">
            <a:avLst/>
          </a:prstGeom>
          <a:solidFill>
            <a:srgbClr val="8978FF"/>
          </a:solidFill>
          <a:ln>
            <a:solidFill>
              <a:srgbClr val="8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500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5F7FC"/>
                </a:solidFill>
                <a:latin typeface="Aptos"/>
              </a:rPr>
              <a:t>Վերարտադրելիություն</a:t>
            </a:r>
            <a:endParaRPr sz="15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862072"/>
            <a:ext cx="297180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0" i="0">
                <a:solidFill>
                  <a:srgbClr val="AEB8CF"/>
                </a:solidFill>
                <a:latin typeface="Aptos"/>
              </a:rPr>
              <a:t>Ճշգրիտ հետևում է յուրաքանչյուր կոդին, արդյունքին և լոգին՝ կապելով դրանք օգտագործված տվյալների բազայի և միջավայրի հետ:</a:t>
            </a:r>
            <a:endParaRPr sz="111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2148840"/>
            <a:ext cx="3383280" cy="274320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148840"/>
            <a:ext cx="54864" cy="2743200"/>
          </a:xfrm>
          <a:prstGeom prst="rect">
            <a:avLst/>
          </a:prstGeom>
          <a:solidFill>
            <a:srgbClr val="57C4FF"/>
          </a:solidFill>
          <a:ln>
            <a:solidFill>
              <a:srgbClr val="5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500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5F7FC"/>
                </a:solidFill>
                <a:latin typeface="Aptos"/>
              </a:rPr>
              <a:t>Ավտոմատացում (Pipelines)</a:t>
            </a:r>
            <a:endParaRPr sz="15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2862072"/>
            <a:ext cx="297180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0" i="0">
                <a:solidFill>
                  <a:srgbClr val="AEB8CF"/>
                </a:solidFill>
                <a:latin typeface="Aptos"/>
              </a:rPr>
              <a:t>Օգտագործում է ML pipeline-ները վերապատրաստումը (retraining) ավտոմատ սկսելու համար, երբ նկատվում է մոդելի ճշտության անկում:</a:t>
            </a:r>
            <a:endParaRPr sz="111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2148840"/>
            <a:ext cx="3383280" cy="274320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148840"/>
            <a:ext cx="54864" cy="2743200"/>
          </a:xfrm>
          <a:prstGeom prst="rect">
            <a:avLst/>
          </a:prstGeom>
          <a:solidFill>
            <a:srgbClr val="6FE0AE"/>
          </a:solidFill>
          <a:ln>
            <a:solidFill>
              <a:srgbClr val="6FE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3500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5F7FC"/>
                </a:solidFill>
                <a:latin typeface="Aptos"/>
              </a:rPr>
              <a:t>CI/CD Ինտեգրում</a:t>
            </a:r>
            <a:endParaRPr sz="15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2862072"/>
            <a:ext cx="297180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0" i="0">
                <a:solidFill>
                  <a:srgbClr val="AEB8CF"/>
                </a:solidFill>
                <a:latin typeface="Aptos"/>
              </a:rPr>
              <a:t>Ապահովում է անխափան և բնիկ (native) ինտեգրում MLflow-ի, GitHub Actions-ի և Azure DevOps-ի հետ՝ CI/CD ամբողջական շարքի համար:</a:t>
            </a:r>
            <a:endParaRPr sz="111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651052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AEB8CF"/>
                </a:solidFill>
                <a:latin typeface="Aptos"/>
              </a:rPr>
              <a:t>Ավտոմատացված MLOps համակարգ</a:t>
            </a:r>
            <a:endParaRPr sz="850" b="0" i="0">
              <a:solidFill>
                <a:srgbClr val="AE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EB8CF"/>
                </a:solidFill>
                <a:latin typeface="Aptos"/>
              </a:rPr>
              <a:t>06</a:t>
            </a:r>
            <a:endParaRPr sz="11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B8CF"/>
                </a:solidFill>
                <a:latin typeface="Aptos"/>
              </a:rPr>
              <a:t>ՄՈՆԻԹՈՐԻՆԳ</a:t>
            </a:r>
            <a:endParaRPr sz="9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C"/>
                </a:solidFill>
                <a:latin typeface="Aptos"/>
              </a:rPr>
              <a:t>Շարունակական մոնիթորինգ և MLOps</a:t>
            </a:r>
            <a:endParaRPr sz="30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6492240" cy="315468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5F7FC"/>
                </a:solidFill>
                <a:latin typeface="Aptos"/>
              </a:rPr>
              <a:t>Մոդելի առողջություն</a:t>
            </a:r>
            <a:endParaRPr sz="1500" b="1" i="0">
              <a:solidFill>
                <a:srgbClr val="F5F7FC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51560" y="4617720"/>
            <a:ext cx="5715000" cy="0"/>
          </a:xfrm>
          <a:prstGeom prst="line">
            <a:avLst/>
          </a:prstGeom>
          <a:ln w="1270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51560" y="3959352"/>
            <a:ext cx="5715000" cy="0"/>
          </a:xfrm>
          <a:prstGeom prst="line">
            <a:avLst/>
          </a:prstGeom>
          <a:ln w="1270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51560" y="3300984"/>
            <a:ext cx="5715000" cy="0"/>
          </a:xfrm>
          <a:prstGeom prst="line">
            <a:avLst/>
          </a:prstGeom>
          <a:ln w="1270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43000" y="4160520"/>
            <a:ext cx="822960" cy="182880"/>
          </a:xfrm>
          <a:prstGeom prst="line">
            <a:avLst/>
          </a:prstGeom>
          <a:ln w="31750">
            <a:solidFill>
              <a:srgbClr val="5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65960" y="4160520"/>
            <a:ext cx="822960" cy="182880"/>
          </a:xfrm>
          <a:prstGeom prst="line">
            <a:avLst/>
          </a:prstGeom>
          <a:ln w="31750">
            <a:solidFill>
              <a:srgbClr val="5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788920" y="3703320"/>
            <a:ext cx="822960" cy="640080"/>
          </a:xfrm>
          <a:prstGeom prst="line">
            <a:avLst/>
          </a:prstGeom>
          <a:ln w="31750">
            <a:solidFill>
              <a:srgbClr val="5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11880" y="3703320"/>
            <a:ext cx="822960" cy="155448"/>
          </a:xfrm>
          <a:prstGeom prst="line">
            <a:avLst/>
          </a:prstGeom>
          <a:ln w="31750">
            <a:solidFill>
              <a:srgbClr val="5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434840" y="3246120"/>
            <a:ext cx="822960" cy="612648"/>
          </a:xfrm>
          <a:prstGeom prst="line">
            <a:avLst/>
          </a:prstGeom>
          <a:ln w="31750">
            <a:solidFill>
              <a:srgbClr val="5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7800" y="3246120"/>
            <a:ext cx="1143000" cy="182880"/>
          </a:xfrm>
          <a:prstGeom prst="line">
            <a:avLst/>
          </a:prstGeom>
          <a:ln w="31750">
            <a:solidFill>
              <a:srgbClr val="5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49560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EB8CF"/>
                </a:solidFill>
                <a:latin typeface="Aptos"/>
              </a:rPr>
              <a:t>Accuracy</a:t>
            </a:r>
            <a:endParaRPr sz="90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0" y="49560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EB8CF"/>
                </a:solidFill>
                <a:latin typeface="Aptos"/>
              </a:rPr>
              <a:t>Monitoring</a:t>
            </a:r>
            <a:endParaRPr sz="90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43800" y="2103120"/>
            <a:ext cx="3977639" cy="3154680"/>
          </a:xfrm>
          <a:prstGeom prst="roundRect">
            <a:avLst>
              <a:gd name="adj" fmla="val 12000"/>
            </a:avLst>
          </a:prstGeom>
          <a:solidFill>
            <a:srgbClr val="171D31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2103120"/>
            <a:ext cx="54864" cy="3154680"/>
          </a:xfrm>
          <a:prstGeom prst="rect">
            <a:avLst/>
          </a:prstGeom>
          <a:solidFill>
            <a:srgbClr val="8978FF"/>
          </a:solidFill>
          <a:ln>
            <a:solidFill>
              <a:srgbClr val="8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304288"/>
            <a:ext cx="35661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7FC"/>
                </a:solidFill>
                <a:latin typeface="Aptos"/>
              </a:rPr>
              <a:t>Ավտոմատ վերապատրաստում</a:t>
            </a:r>
            <a:endParaRPr sz="16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0" y="2816352"/>
            <a:ext cx="356615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AEB8CF"/>
                </a:solidFill>
                <a:latin typeface="Aptos"/>
              </a:rPr>
              <a:t>Մոնիթորինգի միջոցով համակարգը կարող է արձագանքել մոդելի ցուցանիշների վատթարացմանը և գործարկել վերապատրաստման գործընթացը.</a:t>
            </a:r>
            <a:endParaRPr sz="115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651052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AEB8CF"/>
                </a:solidFill>
                <a:latin typeface="Aptos"/>
              </a:rPr>
              <a:t>Ավտոմատացված MLOps համակարգ</a:t>
            </a:r>
            <a:endParaRPr sz="850" b="0" i="0">
              <a:solidFill>
                <a:srgbClr val="AE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EB8CF"/>
                </a:solidFill>
                <a:latin typeface="Aptos"/>
              </a:rPr>
              <a:t>07</a:t>
            </a:r>
            <a:endParaRPr sz="11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B8CF"/>
                </a:solidFill>
                <a:latin typeface="Aptos"/>
              </a:rPr>
              <a:t>ԻՐԱԿԱՆԱՑՄԱՆ ՃԱՆԱՊԱՐՀԱՅԻՆ ՔԱՐՏԵԶ</a:t>
            </a:r>
            <a:endParaRPr sz="9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C"/>
                </a:solidFill>
                <a:latin typeface="Aptos"/>
              </a:rPr>
              <a:t>Ծրագրի փուլերը</a:t>
            </a:r>
            <a:endParaRPr sz="30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914400" cy="329184"/>
          </a:xfrm>
          <a:prstGeom prst="roundRect">
            <a:avLst>
              <a:gd name="adj" fmla="val 12000"/>
            </a:avLst>
          </a:prstGeom>
          <a:solidFill>
            <a:srgbClr val="8978FF"/>
          </a:solidFill>
          <a:ln>
            <a:solidFill>
              <a:srgbClr val="8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26361"/>
            <a:ext cx="7680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5F7FC"/>
                </a:solidFill>
                <a:latin typeface="Aptos"/>
              </a:rPr>
              <a:t>Փուլ 1</a:t>
            </a:r>
            <a:endParaRPr sz="9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74519" y="2075688"/>
            <a:ext cx="9052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5F7FC"/>
                </a:solidFill>
                <a:latin typeface="Aptos"/>
              </a:rPr>
              <a:t>Ստեղծել Azure Free Tier աշխատանքային տարածք և կոնֆիգուրացնել ռեսուրսների խումբը.</a:t>
            </a:r>
            <a:endParaRPr sz="1150" b="0" i="0">
              <a:solidFill>
                <a:srgbClr val="F5F7FC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234440" y="2404872"/>
            <a:ext cx="0" cy="585216"/>
          </a:xfrm>
          <a:prstGeom prst="line">
            <a:avLst/>
          </a:prstGeom>
          <a:ln w="1905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3017520"/>
            <a:ext cx="914400" cy="329184"/>
          </a:xfrm>
          <a:prstGeom prst="roundRect">
            <a:avLst>
              <a:gd name="adj" fmla="val 12000"/>
            </a:avLst>
          </a:prstGeom>
          <a:solidFill>
            <a:srgbClr val="57C4FF"/>
          </a:solidFill>
          <a:ln>
            <a:solidFill>
              <a:srgbClr val="5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086481"/>
            <a:ext cx="7680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5F7FC"/>
                </a:solidFill>
                <a:latin typeface="Aptos"/>
              </a:rPr>
              <a:t>Փուլ 2</a:t>
            </a:r>
            <a:endParaRPr sz="9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74519" y="3035808"/>
            <a:ext cx="9052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5F7FC"/>
                </a:solidFill>
                <a:latin typeface="Aptos"/>
              </a:rPr>
              <a:t>Միացնել տվյալների բազան և գործարկել մոդելի ուսուցման ավտոմատացված գործընթացը (training pipeline).</a:t>
            </a:r>
            <a:endParaRPr sz="1150" b="0" i="0">
              <a:solidFill>
                <a:srgbClr val="F5F7FC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3364991"/>
            <a:ext cx="0" cy="585217"/>
          </a:xfrm>
          <a:prstGeom prst="line">
            <a:avLst/>
          </a:prstGeom>
          <a:ln w="1905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3977639"/>
            <a:ext cx="914400" cy="329184"/>
          </a:xfrm>
          <a:prstGeom prst="roundRect">
            <a:avLst>
              <a:gd name="adj" fmla="val 12000"/>
            </a:avLst>
          </a:prstGeom>
          <a:solidFill>
            <a:srgbClr val="6FE0AE"/>
          </a:solidFill>
          <a:ln>
            <a:solidFill>
              <a:srgbClr val="6FE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046600"/>
            <a:ext cx="7680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5F7FC"/>
                </a:solidFill>
                <a:latin typeface="Aptos"/>
              </a:rPr>
              <a:t>Փուլ 3</a:t>
            </a:r>
            <a:endParaRPr sz="9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3995927"/>
            <a:ext cx="9052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5F7FC"/>
                </a:solidFill>
                <a:latin typeface="Aptos"/>
              </a:rPr>
              <a:t>Տեղակայել ուսուցանված մոդելը (deploy) և ստեղծել Managed Endpoint իրական ժամանակում աշխատելու համար.</a:t>
            </a:r>
            <a:endParaRPr sz="1150" b="0" i="0">
              <a:solidFill>
                <a:srgbClr val="F5F7FC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4325112"/>
            <a:ext cx="0" cy="585215"/>
          </a:xfrm>
          <a:prstGeom prst="line">
            <a:avLst/>
          </a:prstGeom>
          <a:ln w="19050">
            <a:solidFill>
              <a:srgbClr val="34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4937760"/>
            <a:ext cx="914400" cy="329184"/>
          </a:xfrm>
          <a:prstGeom prst="roundRect">
            <a:avLst>
              <a:gd name="adj" fmla="val 12000"/>
            </a:avLst>
          </a:prstGeom>
          <a:solidFill>
            <a:srgbClr val="8978FF"/>
          </a:solidFill>
          <a:ln>
            <a:solidFill>
              <a:srgbClr val="8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006721"/>
            <a:ext cx="7680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5F7FC"/>
                </a:solidFill>
                <a:latin typeface="Aptos"/>
              </a:rPr>
              <a:t>Փուլ 4</a:t>
            </a:r>
            <a:endParaRPr sz="9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19" y="4956048"/>
            <a:ext cx="9052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5F7FC"/>
                </a:solidFill>
                <a:latin typeface="Aptos"/>
              </a:rPr>
              <a:t>Կարգավորել ավտոմատացված մոնիթորինգ՝ endpoint-ի առողջությանը և ցուցանիշներին հետևելու համար.</a:t>
            </a:r>
            <a:endParaRPr sz="1150" b="0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AEB8CF"/>
                </a:solidFill>
                <a:latin typeface="Aptos"/>
              </a:rPr>
              <a:t>Ավտոմատացված MLOps համակարգ</a:t>
            </a:r>
            <a:endParaRPr sz="850" b="0" i="0">
              <a:solidFill>
                <a:srgbClr val="AE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EB8CF"/>
                </a:solidFill>
                <a:latin typeface="Aptos"/>
              </a:rPr>
              <a:t>08</a:t>
            </a:r>
            <a:endParaRPr sz="11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B8CF"/>
                </a:solidFill>
                <a:latin typeface="Aptos"/>
              </a:rPr>
              <a:t>ԱՎԱՐՏ</a:t>
            </a:r>
            <a:endParaRPr sz="900" b="1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5F7FC"/>
                </a:solidFill>
                <a:latin typeface="Aptos"/>
              </a:rPr>
              <a:t>Հարցե՞ր</a:t>
            </a:r>
            <a:endParaRPr sz="42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AEB8CF"/>
                </a:solidFill>
                <a:latin typeface="Aptos"/>
              </a:rPr>
              <a:t>Շնորհակալություն ուշադրության համար։</a:t>
            </a:r>
            <a:endParaRPr sz="1800" b="0" i="0">
              <a:solidFill>
                <a:srgbClr val="AEB8C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3657600"/>
            <a:ext cx="3337560" cy="329184"/>
          </a:xfrm>
          <a:prstGeom prst="roundRect">
            <a:avLst>
              <a:gd name="adj" fmla="val 12000"/>
            </a:avLst>
          </a:prstGeom>
          <a:solidFill>
            <a:srgbClr val="8978FF"/>
          </a:solidFill>
          <a:ln>
            <a:solidFill>
              <a:srgbClr val="8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3737356"/>
            <a:ext cx="31912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5F7FC"/>
                </a:solidFill>
                <a:latin typeface="Aptos"/>
              </a:rPr>
              <a:t>Ավտոմատացված MLOps համակարգի ներկայացում</a:t>
            </a:r>
            <a:endParaRPr sz="900" b="1" i="0">
              <a:solidFill>
                <a:srgbClr val="F5F7FC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243D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41080" y="22860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243D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0" y="16459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243D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29800" y="22860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243D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24160" y="16459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243D"/>
          </a:solidFill>
          <a:ln>
            <a:solidFill>
              <a:srgbClr val="34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1052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AEB8CF"/>
                </a:solidFill>
                <a:latin typeface="Aptos"/>
              </a:rPr>
              <a:t>Ավտոմատացված MLOps համակարգ</a:t>
            </a:r>
            <a:endParaRPr sz="850" b="0" i="0">
              <a:solidFill>
                <a:srgbClr val="AEB8C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2974</Words>
  <Application>WPS Presentation</Application>
  <PresentationFormat>On-screen Show (4:3)</PresentationFormat>
  <Paragraphs>164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Ara Mkrtchyan</cp:lastModifiedBy>
  <cp:revision>3</cp:revision>
  <dcterms:created xsi:type="dcterms:W3CDTF">2013-01-27T09:14:00Z</dcterms:created>
  <dcterms:modified xsi:type="dcterms:W3CDTF">2026-09-16T10:34:03Z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7085DEA7534D448898B2987D481E9C19_12</vt:lpwstr>
  </property>
</Properties>
</file>